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Estimating Cosmological Parameters</a:t>
            </a:r>
          </a:p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from the Matter Power Spectrum</a:t>
            </a:r>
          </a:p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Amortized simulation-based inference with neural posterior estimation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2976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Calibri"/>
              </a:rPr>
              <a:t>Group members:  Md Saiful Islam  ·  Sumon Ahmed Masum  ·  Mohammed Rehan</a:t>
            </a:r>
          </a:p>
          <a:p>
            <a:pPr algn="l"/>
            <a:r>
              <a:rPr sz="1300" b="0">
                <a:solidFill>
                  <a:srgbClr val="5A6380"/>
                </a:solidFill>
                <a:latin typeface="Calibri"/>
              </a:rPr>
              <a:t>Simulation-Based Inference (SoSe26) · TU Dortmund · Supervisor: Aayush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A13A"/>
                </a:solidFill>
                <a:latin typeface="Calibri"/>
              </a:rPr>
              <a:t>θ = { H₀ , Ωₘ , nₛ , Aₛ }   ←   P(k)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B244A"/>
                </a:solidFill>
                <a:latin typeface="Calibri"/>
              </a:rPr>
              <a:t>Why this problem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4864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244A"/>
                </a:solidFill>
                <a:latin typeface="Calibri"/>
              </a:rPr>
              <a:t>The Universe is not smooth — matter clumps into the cosmic web.</a:t>
            </a:r>
          </a:p>
          <a:p>
            <a:pPr algn="l"/>
            <a:r>
              <a:rPr sz="1400" b="0">
                <a:solidFill>
                  <a:srgbClr val="1B244A"/>
                </a:solidFill>
                <a:latin typeface="Calibri"/>
              </a:rPr>
              <a:t>The matter power spectrum P(k) measures how much structure exists at each scale; galaxy surveys (DESI, Euclid) measure it.</a:t>
            </a:r>
          </a:p>
          <a:p>
            <a:pPr algn="l"/>
            <a:r>
              <a:rPr sz="800" b="0">
                <a:solidFill>
                  <a:srgbClr val="1B244A"/>
                </a:solidFill>
                <a:latin typeface="Calibri"/>
              </a:rPr>
              <a:t/>
            </a:r>
          </a:p>
          <a:p>
            <a:pPr algn="l"/>
            <a:r>
              <a:rPr sz="1500" b="1">
                <a:solidFill>
                  <a:srgbClr val="1C7293"/>
                </a:solidFill>
                <a:latin typeface="Calibri"/>
              </a:rPr>
              <a:t>The inverse problem:</a:t>
            </a:r>
          </a:p>
          <a:p>
            <a:pPr algn="l"/>
            <a:r>
              <a:rPr sz="1400" b="0">
                <a:solidFill>
                  <a:srgbClr val="1B244A"/>
                </a:solidFill>
                <a:latin typeface="Calibri"/>
              </a:rPr>
              <a:t>We can simulate parameters → P(k) (forward), but we want P(k) → parameters, with honest uncertainty (backward).</a:t>
            </a:r>
          </a:p>
          <a:p>
            <a:pPr algn="l"/>
            <a:r>
              <a:rPr sz="800" b="0">
                <a:solidFill>
                  <a:srgbClr val="1B244A"/>
                </a:solidFill>
                <a:latin typeface="Calibri"/>
              </a:rPr>
              <a:t/>
            </a:r>
          </a:p>
          <a:p>
            <a:pPr algn="l"/>
            <a:r>
              <a:rPr sz="1500" b="1">
                <a:solidFill>
                  <a:srgbClr val="1C7293"/>
                </a:solidFill>
                <a:latin typeface="Calibri"/>
              </a:rPr>
              <a:t>Why SBI:</a:t>
            </a:r>
          </a:p>
          <a:p>
            <a:pPr algn="l"/>
            <a:r>
              <a:rPr sz="1400" b="0">
                <a:solidFill>
                  <a:srgbClr val="1B244A"/>
                </a:solidFill>
                <a:latin typeface="Calibri"/>
              </a:rPr>
              <a:t>• Realistic simulators have no tractable likelihood.</a:t>
            </a:r>
          </a:p>
          <a:p>
            <a:pPr algn="l"/>
            <a:r>
              <a:rPr sz="1400" b="0">
                <a:solidFill>
                  <a:srgbClr val="1B244A"/>
                </a:solidFill>
                <a:latin typeface="Calibri"/>
              </a:rPr>
              <a:t>• Amortized inference: train once, infer any new spectrum instantly.</a:t>
            </a:r>
          </a:p>
          <a:p>
            <a:pPr algn="l"/>
            <a:r>
              <a:rPr sz="1400" b="0">
                <a:solidFill>
                  <a:srgbClr val="1B244A"/>
                </a:solidFill>
                <a:latin typeface="Calibri"/>
              </a:rPr>
              <a:t>• Calibrated error bars → trustworthy cosmology (e.g. the Hubble tension).</a:t>
            </a:r>
          </a:p>
        </p:txBody>
      </p:sp>
      <p:pic>
        <p:nvPicPr>
          <p:cNvPr id="4" name="Picture 3" descr="fig2_obs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486400" cy="39188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5519057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6380"/>
                </a:solidFill>
                <a:latin typeface="Calibri"/>
              </a:rPr>
              <a:t>One noisy observation of P(k) (cosmic-variance noise)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B244A"/>
                </a:solidFill>
                <a:latin typeface="Calibri"/>
              </a:rPr>
              <a:t>The four parameters shape P(k)</a:t>
            </a:r>
          </a:p>
        </p:txBody>
      </p:sp>
      <p:pic>
        <p:nvPicPr>
          <p:cNvPr id="3" name="Picture 2" descr="fig1_simulator_ef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766560" cy="49211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20166"/>
            <a:ext cx="6766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6380"/>
                </a:solidFill>
                <a:latin typeface="Calibri"/>
              </a:rPr>
              <a:t>Each parameter leaves a distinct imprint on the spectrum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463040"/>
            <a:ext cx="42976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A13A"/>
                </a:solidFill>
                <a:latin typeface="Calibri"/>
              </a:rPr>
              <a:t>Aₛ  amplitude</a:t>
            </a:r>
          </a:p>
          <a:p>
            <a:pPr algn="l"/>
            <a:r>
              <a:rPr sz="1300" b="0">
                <a:solidFill>
                  <a:srgbClr val="1B244A"/>
                </a:solidFill>
                <a:latin typeface="Calibri"/>
              </a:rPr>
              <a:t>vertical scaling of P(k)</a:t>
            </a:r>
          </a:p>
          <a:p>
            <a:pPr algn="l"/>
            <a:r>
              <a:rPr sz="600" b="0">
                <a:solidFill>
                  <a:srgbClr val="1B244A"/>
                </a:solidFill>
                <a:latin typeface="Calibri"/>
              </a:rPr>
              <a:t/>
            </a:r>
          </a:p>
          <a:p>
            <a:pPr algn="l"/>
            <a:r>
              <a:rPr sz="1500" b="1">
                <a:solidFill>
                  <a:srgbClr val="E8A13A"/>
                </a:solidFill>
                <a:latin typeface="Calibri"/>
              </a:rPr>
              <a:t>nₛ  spectral index</a:t>
            </a:r>
          </a:p>
          <a:p>
            <a:pPr algn="l"/>
            <a:r>
              <a:rPr sz="1300" b="0">
                <a:solidFill>
                  <a:srgbClr val="1B244A"/>
                </a:solidFill>
                <a:latin typeface="Calibri"/>
              </a:rPr>
              <a:t>tilts / pivots the spectrum</a:t>
            </a:r>
          </a:p>
          <a:p>
            <a:pPr algn="l"/>
            <a:r>
              <a:rPr sz="600" b="0">
                <a:solidFill>
                  <a:srgbClr val="1B244A"/>
                </a:solidFill>
                <a:latin typeface="Calibri"/>
              </a:rPr>
              <a:t/>
            </a:r>
          </a:p>
          <a:p>
            <a:pPr algn="l"/>
            <a:r>
              <a:rPr sz="1500" b="1">
                <a:solidFill>
                  <a:srgbClr val="E8A13A"/>
                </a:solidFill>
                <a:latin typeface="Calibri"/>
              </a:rPr>
              <a:t>Ωₘ  matter density</a:t>
            </a:r>
          </a:p>
          <a:p>
            <a:pPr algn="l"/>
            <a:r>
              <a:rPr sz="1300" b="0">
                <a:solidFill>
                  <a:srgbClr val="1B244A"/>
                </a:solidFill>
                <a:latin typeface="Calibri"/>
              </a:rPr>
              <a:t>moves the turnover scale</a:t>
            </a:r>
          </a:p>
          <a:p>
            <a:pPr algn="l"/>
            <a:r>
              <a:rPr sz="600" b="0">
                <a:solidFill>
                  <a:srgbClr val="1B244A"/>
                </a:solidFill>
                <a:latin typeface="Calibri"/>
              </a:rPr>
              <a:t/>
            </a:r>
          </a:p>
          <a:p>
            <a:pPr algn="l"/>
            <a:r>
              <a:rPr sz="1500" b="1">
                <a:solidFill>
                  <a:srgbClr val="E8A13A"/>
                </a:solidFill>
                <a:latin typeface="Calibri"/>
              </a:rPr>
              <a:t>H₀  Hubble constant</a:t>
            </a:r>
          </a:p>
          <a:p>
            <a:pPr algn="l"/>
            <a:r>
              <a:rPr sz="1300" b="0">
                <a:solidFill>
                  <a:srgbClr val="1B244A"/>
                </a:solidFill>
                <a:latin typeface="Calibri"/>
              </a:rPr>
              <a:t>weak effect — enters only via shape → hard to constrain alone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B244A"/>
                </a:solidFill>
                <a:latin typeface="Calibri"/>
              </a:rPr>
              <a:t>Method: amortized neural posterior estimation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920240"/>
            <a:ext cx="2743200" cy="1005840"/>
          </a:xfrm>
          <a:prstGeom prst="roundRect">
            <a:avLst/>
          </a:prstGeom>
          <a:solidFill>
            <a:srgbClr val="DDE4F3"/>
          </a:solidFill>
          <a:ln w="19050">
            <a:solidFill>
              <a:srgbClr val="12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21A3A"/>
                </a:solidFill>
                <a:latin typeface="Calibri"/>
              </a:rPr>
              <a:t>Prior
θ = {H₀,Ωₘ,nₛ,Aₛ}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520440" y="2148840"/>
            <a:ext cx="914400" cy="457200"/>
          </a:xfrm>
          <a:prstGeom prst="rightArrow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0" y="1920240"/>
            <a:ext cx="3108960" cy="1005840"/>
          </a:xfrm>
          <a:prstGeom prst="roundRect">
            <a:avLst/>
          </a:prstGeom>
          <a:solidFill>
            <a:srgbClr val="D8ECF2"/>
          </a:solidFill>
          <a:ln w="190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C7293"/>
                </a:solidFill>
                <a:latin typeface="Calibri"/>
              </a:rPr>
              <a:t>Simulator
CAMB / BBKS + noise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818120" y="2148840"/>
            <a:ext cx="914400" cy="457200"/>
          </a:xfrm>
          <a:prstGeom prst="rightArrow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69680" y="1920240"/>
            <a:ext cx="2743200" cy="1005840"/>
          </a:xfrm>
          <a:prstGeom prst="roundRect">
            <a:avLst/>
          </a:prstGeom>
          <a:solidFill>
            <a:srgbClr val="DDE4F3"/>
          </a:solidFill>
          <a:ln w="19050">
            <a:solidFill>
              <a:srgbClr val="12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21A3A"/>
                </a:solidFill>
                <a:latin typeface="Calibri"/>
              </a:rPr>
              <a:t>P(k)
noisy spectrum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840480"/>
            <a:ext cx="3108960" cy="1005840"/>
          </a:xfrm>
          <a:prstGeom prst="roundRect">
            <a:avLst/>
          </a:prstGeom>
          <a:solidFill>
            <a:srgbClr val="F9ECD3"/>
          </a:solidFill>
          <a:ln w="28575">
            <a:solidFill>
              <a:srgbClr val="E8A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B244A"/>
                </a:solidFill>
                <a:latin typeface="Calibri"/>
              </a:rPr>
              <a:t>Neural Posterior
q(θ | P(k))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818120" y="4069080"/>
            <a:ext cx="914400" cy="457200"/>
          </a:xfrm>
          <a:prstGeom prst="rightArrow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0" y="3840480"/>
            <a:ext cx="2743200" cy="1005840"/>
          </a:xfrm>
          <a:prstGeom prst="roundRect">
            <a:avLst/>
          </a:prstGeom>
          <a:solidFill>
            <a:srgbClr val="DDE4F3"/>
          </a:solidFill>
          <a:ln w="19050">
            <a:solidFill>
              <a:srgbClr val="12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21A3A"/>
                </a:solidFill>
                <a:latin typeface="Calibri"/>
              </a:rPr>
              <a:t>posterior
over 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3657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44A"/>
                </a:solidFill>
                <a:latin typeface="Calibri"/>
              </a:rPr>
              <a:t>Train once on many simulations →</a:t>
            </a:r>
          </a:p>
          <a:p>
            <a:pPr algn="l"/>
            <a:r>
              <a:rPr sz="1300" b="0">
                <a:solidFill>
                  <a:srgbClr val="1B244A"/>
                </a:solidFill>
                <a:latin typeface="Calibri"/>
              </a:rPr>
              <a:t>inference for any new spectrum is one fast forward pass (amortized).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B244A"/>
                </a:solidFill>
                <a:latin typeface="Calibri"/>
              </a:rPr>
              <a:t>Built with:  CAMB / BBKS simulator  ·  Gaussian NPE (Python, NumPy, autograd)  ·  BayesFlow for production  ·  Go + HTML live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064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380"/>
                </a:solidFill>
                <a:latin typeface="Calibri"/>
              </a:rPr>
              <a:t>Likelihood-free: we only need to simulate, never to write p(data | θ).  Maps to course Ch10 (ABC) → Ch12 (NPE/BayesFlow).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B244A"/>
                </a:solidFill>
                <a:latin typeface="Calibri"/>
              </a:rPr>
              <a:t>Simulator, priors &amp; noise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66928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7293"/>
                </a:solidFill>
                <a:latin typeface="Calibri"/>
              </a:rPr>
              <a:t>Forward model</a:t>
            </a:r>
          </a:p>
          <a:p>
            <a:pPr algn="l"/>
            <a:r>
              <a:rPr sz="1300" b="0">
                <a:solidFill>
                  <a:srgbClr val="1B244A"/>
                </a:solidFill>
                <a:latin typeface="Calibri"/>
              </a:rPr>
              <a:t>Linear P(k) at z=0 on 100 log-spaced k ∈ [10⁻³,1] h/Mpc.</a:t>
            </a:r>
          </a:p>
          <a:p>
            <a:pPr algn="l"/>
            <a:r>
              <a:rPr sz="1300" b="0">
                <a:solidFill>
                  <a:srgbClr val="1B244A"/>
                </a:solidFill>
                <a:latin typeface="Calibri"/>
              </a:rPr>
              <a:t>Prototype: BBKS+Sugiyama transfer fn (≈ CAMB);  production: CAMB.</a:t>
            </a:r>
          </a:p>
          <a:p>
            <a:pPr algn="l"/>
            <a:r>
              <a:rPr sz="600" b="0">
                <a:solidFill>
                  <a:srgbClr val="1B244A"/>
                </a:solidFill>
                <a:latin typeface="Calibri"/>
              </a:rPr>
              <a:t/>
            </a:r>
          </a:p>
          <a:p>
            <a:pPr algn="l"/>
            <a:r>
              <a:rPr sz="1500" b="1">
                <a:solidFill>
                  <a:srgbClr val="1C7293"/>
                </a:solidFill>
                <a:latin typeface="Calibri"/>
              </a:rPr>
              <a:t>Priors (proper, uniform)</a:t>
            </a:r>
          </a:p>
          <a:p>
            <a:pPr algn="l"/>
            <a:r>
              <a:rPr sz="1300" b="0">
                <a:solidFill>
                  <a:srgbClr val="1B244A"/>
                </a:solidFill>
                <a:latin typeface="Calibri"/>
              </a:rPr>
              <a:t>H₀ ~ U(60, 80) km/s/Mpc</a:t>
            </a:r>
          </a:p>
          <a:p>
            <a:pPr algn="l"/>
            <a:r>
              <a:rPr sz="1300" b="0">
                <a:solidFill>
                  <a:srgbClr val="1B244A"/>
                </a:solidFill>
                <a:latin typeface="Calibri"/>
              </a:rPr>
              <a:t>Ωₘ ~ U(0.10, 0.50)</a:t>
            </a:r>
          </a:p>
          <a:p>
            <a:pPr algn="l"/>
            <a:r>
              <a:rPr sz="1300" b="0">
                <a:solidFill>
                  <a:srgbClr val="1B244A"/>
                </a:solidFill>
                <a:latin typeface="Calibri"/>
              </a:rPr>
              <a:t>nₛ ~ U(0.90, 1.05)</a:t>
            </a:r>
          </a:p>
          <a:p>
            <a:pPr algn="l"/>
            <a:r>
              <a:rPr sz="1300" b="0">
                <a:solidFill>
                  <a:srgbClr val="1B244A"/>
                </a:solidFill>
                <a:latin typeface="Calibri"/>
              </a:rPr>
              <a:t>ln(10¹⁰Aₛ) ~ U(2.5, 3.5)   (log-amplitude)</a:t>
            </a:r>
          </a:p>
          <a:p>
            <a:pPr algn="l"/>
            <a:r>
              <a:rPr sz="1300" b="0">
                <a:solidFill>
                  <a:srgbClr val="5A6380"/>
                </a:solidFill>
                <a:latin typeface="Calibri"/>
              </a:rPr>
              <a:t>fixed ω_b = 0.0224, ω_c derived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3949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7293"/>
                </a:solidFill>
                <a:latin typeface="Calibri"/>
              </a:rPr>
              <a:t>Cosmic-variance noise</a:t>
            </a:r>
          </a:p>
          <a:p>
            <a:pPr algn="l"/>
            <a:r>
              <a:rPr sz="1500" b="1">
                <a:solidFill>
                  <a:srgbClr val="E8A13A"/>
                </a:solidFill>
                <a:latin typeface="Calibri"/>
              </a:rPr>
              <a:t>σᵢ = P(kᵢ) √(2 / Nᵢ)</a:t>
            </a:r>
          </a:p>
          <a:p>
            <a:pPr algn="l"/>
            <a:r>
              <a:rPr sz="1300" b="0">
                <a:solidFill>
                  <a:srgbClr val="1B244A"/>
                </a:solidFill>
                <a:latin typeface="Calibri"/>
              </a:rPr>
              <a:t>Nᵢ = kᵢ² Δk V / (2π²),   V = 10⁹ (Mpc/h)³</a:t>
            </a:r>
          </a:p>
          <a:p>
            <a:pPr algn="l"/>
            <a:r>
              <a:rPr sz="1300" b="0">
                <a:solidFill>
                  <a:srgbClr val="1B244A"/>
                </a:solidFill>
                <a:latin typeface="Calibri"/>
              </a:rPr>
              <a:t>Few modes at low k → noisy;  many at high k → precise.</a:t>
            </a:r>
          </a:p>
          <a:p>
            <a:pPr algn="l"/>
            <a:r>
              <a:rPr sz="600" b="0">
                <a:solidFill>
                  <a:srgbClr val="1B244A"/>
                </a:solidFill>
                <a:latin typeface="Calibri"/>
              </a:rPr>
              <a:t/>
            </a:r>
          </a:p>
          <a:p>
            <a:pPr algn="l"/>
            <a:r>
              <a:rPr sz="1500" b="1">
                <a:solidFill>
                  <a:srgbClr val="1C7293"/>
                </a:solidFill>
                <a:latin typeface="Calibri"/>
              </a:rPr>
              <a:t>Preprocessing</a:t>
            </a:r>
          </a:p>
          <a:p>
            <a:pPr algn="l"/>
            <a:r>
              <a:rPr sz="1300" b="0">
                <a:solidFill>
                  <a:srgbClr val="1B244A"/>
                </a:solidFill>
                <a:latin typeface="Calibri"/>
              </a:rPr>
              <a:t>log₁₀ P(k), then standardize (raw P spans orders of magnitude).</a:t>
            </a:r>
          </a:p>
          <a:p>
            <a:pPr algn="l"/>
            <a:r>
              <a:rPr sz="600" b="0">
                <a:solidFill>
                  <a:srgbClr val="1B244A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1B244A"/>
                </a:solidFill>
                <a:latin typeface="Calibri"/>
              </a:rPr>
              <a:t>Data: 12k train / 2k val / 3k test;  fresh noise each batch.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B244A"/>
                </a:solidFill>
                <a:latin typeface="Calibri"/>
              </a:rPr>
              <a:t>Network &amp;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5715000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7293"/>
                </a:solidFill>
                <a:latin typeface="Calibri"/>
              </a:rPr>
              <a:t>Architecture (≈31k params)</a:t>
            </a:r>
          </a:p>
          <a:p>
            <a:pPr algn="l"/>
            <a:r>
              <a:rPr sz="1250" b="0">
                <a:solidFill>
                  <a:srgbClr val="1B244A"/>
                </a:solidFill>
                <a:latin typeface="Calibri"/>
              </a:rPr>
              <a:t>• Input: standardized log P(k) — 100 values</a:t>
            </a:r>
          </a:p>
          <a:p>
            <a:pPr algn="l"/>
            <a:r>
              <a:rPr sz="1250" b="0">
                <a:solidFill>
                  <a:srgbClr val="1B244A"/>
                </a:solidFill>
                <a:latin typeface="Calibri"/>
              </a:rPr>
              <a:t>• MLP: 100 → 128 → 128, tanh  (hidden layers = summary)</a:t>
            </a:r>
          </a:p>
          <a:p>
            <a:pPr algn="l"/>
            <a:r>
              <a:rPr sz="1250" b="0">
                <a:solidFill>
                  <a:srgbClr val="1B244A"/>
                </a:solidFill>
                <a:latin typeface="Calibri"/>
              </a:rPr>
              <a:t>• Output 14 = mean(4) + Cholesky(10) → 4-D Gaussian, full covariance</a:t>
            </a:r>
          </a:p>
          <a:p>
            <a:pPr algn="l"/>
            <a:r>
              <a:rPr sz="1250" b="0">
                <a:solidFill>
                  <a:srgbClr val="1B244A"/>
                </a:solidFill>
                <a:latin typeface="Calibri"/>
              </a:rPr>
              <a:t>• No dropout / weight decay — online noise acts as regularization</a:t>
            </a:r>
          </a:p>
          <a:p>
            <a:pPr algn="l"/>
            <a:r>
              <a:rPr sz="400" b="0">
                <a:solidFill>
                  <a:srgbClr val="1B244A"/>
                </a:solidFill>
                <a:latin typeface="Calibri"/>
              </a:rPr>
              <a:t/>
            </a:r>
          </a:p>
          <a:p>
            <a:pPr algn="l"/>
            <a:r>
              <a:rPr sz="1400" b="1">
                <a:solidFill>
                  <a:srgbClr val="1C7293"/>
                </a:solidFill>
                <a:latin typeface="Calibri"/>
              </a:rPr>
              <a:t>Training</a:t>
            </a:r>
          </a:p>
          <a:p>
            <a:pPr algn="l"/>
            <a:r>
              <a:rPr sz="1250" b="0">
                <a:solidFill>
                  <a:srgbClr val="1B244A"/>
                </a:solidFill>
                <a:latin typeface="Calibri"/>
              </a:rPr>
              <a:t>• Loss: Gaussian negative log-likelihood (NLL)</a:t>
            </a:r>
          </a:p>
          <a:p>
            <a:pPr algn="l"/>
            <a:r>
              <a:rPr sz="1250" b="0">
                <a:solidFill>
                  <a:srgbClr val="1B244A"/>
                </a:solidFill>
                <a:latin typeface="Calibri"/>
              </a:rPr>
              <a:t>• Two-phase: MSE warm-up (2.5k) → NLL (7k steps)</a:t>
            </a:r>
          </a:p>
          <a:p>
            <a:pPr algn="l"/>
            <a:r>
              <a:rPr sz="1250" b="0">
                <a:solidFill>
                  <a:srgbClr val="1B244A"/>
                </a:solidFill>
                <a:latin typeface="Calibri"/>
              </a:rPr>
              <a:t>• Adam, batch 256, step LR decay (2e-3 → 1e-3)</a:t>
            </a:r>
          </a:p>
          <a:p>
            <a:pPr algn="l"/>
            <a:r>
              <a:rPr sz="1250" b="0">
                <a:solidFill>
                  <a:srgbClr val="1B244A"/>
                </a:solidFill>
                <a:latin typeface="Calibri"/>
              </a:rPr>
              <a:t>• Offline sims + fresh online noise per batch</a:t>
            </a:r>
          </a:p>
          <a:p>
            <a:pPr algn="l"/>
            <a:r>
              <a:rPr sz="1250" b="0">
                <a:solidFill>
                  <a:srgbClr val="1B244A"/>
                </a:solidFill>
                <a:latin typeface="Calibri"/>
              </a:rPr>
              <a:t>• ~20 s on CPU;  val tracks train → no overfit</a:t>
            </a:r>
          </a:p>
          <a:p>
            <a:pPr algn="l"/>
            <a:r>
              <a:rPr sz="400" b="0">
                <a:solidFill>
                  <a:srgbClr val="1B244A"/>
                </a:solidFill>
                <a:latin typeface="Calibri"/>
              </a:rPr>
              <a:t/>
            </a:r>
          </a:p>
          <a:p>
            <a:pPr algn="l"/>
            <a:r>
              <a:rPr sz="1250" b="0">
                <a:solidFill>
                  <a:srgbClr val="5A6380"/>
                </a:solidFill>
                <a:latin typeface="Calibri"/>
              </a:rPr>
              <a:t>Tools: Python · NumPy · autograd</a:t>
            </a:r>
          </a:p>
          <a:p>
            <a:pPr algn="l"/>
            <a:r>
              <a:rPr sz="1250" b="1">
                <a:solidFill>
                  <a:srgbClr val="E8A13A"/>
                </a:solidFill>
                <a:latin typeface="Calibri"/>
              </a:rPr>
              <a:t>Production → CNN summary + BayesFlow normalizing flow</a:t>
            </a:r>
          </a:p>
        </p:txBody>
      </p:sp>
      <p:pic>
        <p:nvPicPr>
          <p:cNvPr id="4" name="Picture 3" descr="fig3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28800"/>
            <a:ext cx="5349240" cy="20424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46520" y="3898669"/>
            <a:ext cx="5349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6380"/>
                </a:solidFill>
                <a:latin typeface="Calibri"/>
              </a:rPr>
              <a:t>Training / validation convergence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93776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Network internals (forward pass)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303520"/>
            <a:ext cx="1508760" cy="731520"/>
          </a:xfrm>
          <a:prstGeom prst="roundRect">
            <a:avLst/>
          </a:prstGeom>
          <a:solidFill>
            <a:srgbClr val="DDE4F3"/>
          </a:solidFill>
          <a:ln w="19050">
            <a:solidFill>
              <a:srgbClr val="12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21A3A"/>
                </a:solidFill>
                <a:latin typeface="Calibri"/>
              </a:rPr>
              <a:t>P(k)
100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75688" y="5577840"/>
            <a:ext cx="384048" cy="457200"/>
          </a:xfrm>
          <a:prstGeom prst="rightArrow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42032" y="5303520"/>
            <a:ext cx="1645920" cy="731520"/>
          </a:xfrm>
          <a:prstGeom prst="roundRect">
            <a:avLst/>
          </a:prstGeom>
          <a:solidFill>
            <a:srgbClr val="D8ECF2"/>
          </a:solidFill>
          <a:ln w="190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C7293"/>
                </a:solidFill>
                <a:latin typeface="Calibri"/>
              </a:rPr>
              <a:t>Dense 128
tanh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251960" y="5577840"/>
            <a:ext cx="384048" cy="457200"/>
          </a:xfrm>
          <a:prstGeom prst="rightArrow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09160" y="5303520"/>
            <a:ext cx="1645920" cy="731520"/>
          </a:xfrm>
          <a:prstGeom prst="roundRect">
            <a:avLst/>
          </a:prstGeom>
          <a:solidFill>
            <a:srgbClr val="D8ECF2"/>
          </a:solidFill>
          <a:ln w="190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C7293"/>
                </a:solidFill>
                <a:latin typeface="Calibri"/>
              </a:rPr>
              <a:t>Dense 128
tanh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419088" y="5577840"/>
            <a:ext cx="384048" cy="457200"/>
          </a:xfrm>
          <a:prstGeom prst="rightArrow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0" y="5303520"/>
            <a:ext cx="2194560" cy="731520"/>
          </a:xfrm>
          <a:prstGeom prst="roundRect">
            <a:avLst/>
          </a:prstGeom>
          <a:solidFill>
            <a:srgbClr val="F9ECD3"/>
          </a:solidFill>
          <a:ln w="19050">
            <a:solidFill>
              <a:srgbClr val="E8A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B244A"/>
                </a:solidFill>
                <a:latin typeface="Calibri"/>
              </a:rPr>
              <a:t>14 outputs
mean + Cholesky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116568" y="5577840"/>
            <a:ext cx="384048" cy="457200"/>
          </a:xfrm>
          <a:prstGeom prst="rightArrow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55480" y="5303520"/>
            <a:ext cx="2240280" cy="731520"/>
          </a:xfrm>
          <a:prstGeom prst="roundRect">
            <a:avLst/>
          </a:prstGeom>
          <a:solidFill>
            <a:srgbClr val="DDE4F3"/>
          </a:solidFill>
          <a:ln w="19050">
            <a:solidFill>
              <a:srgbClr val="12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21A3A"/>
                </a:solidFill>
                <a:latin typeface="Calibri"/>
              </a:rPr>
              <a:t>4-D Gaussian
posterior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B244A"/>
                </a:solidFill>
                <a:latin typeface="Calibri"/>
              </a:rPr>
              <a:t>Calibration — is the posterior trustworthy?</a:t>
            </a:r>
          </a:p>
        </p:txBody>
      </p:sp>
      <p:pic>
        <p:nvPicPr>
          <p:cNvPr id="3" name="Picture 2" descr="fig5_s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2460308"/>
          </a:xfrm>
          <a:prstGeom prst="rect">
            <a:avLst/>
          </a:prstGeom>
        </p:spPr>
      </p:pic>
      <p:pic>
        <p:nvPicPr>
          <p:cNvPr id="4" name="Picture 3" descr="fig6_contr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86200"/>
            <a:ext cx="4114800" cy="29391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20640" y="4069080"/>
            <a:ext cx="66751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44A"/>
                </a:solidFill>
                <a:latin typeface="Calibri"/>
              </a:rPr>
              <a:t>nₛ, Aₛ ranks flat → well calibrated.</a:t>
            </a:r>
          </a:p>
          <a:p>
            <a:pPr algn="l"/>
            <a:r>
              <a:rPr sz="1300" b="0">
                <a:solidFill>
                  <a:srgbClr val="1B244A"/>
                </a:solidFill>
                <a:latin typeface="Calibri"/>
              </a:rPr>
              <a:t>Ωₘ, H₀ mild ∪-shape → slight tail overconfidence (typical for a Gaussian posterior; a normalizing flow would improve it).</a:t>
            </a:r>
          </a:p>
          <a:p>
            <a:pPr algn="l"/>
            <a:r>
              <a:rPr sz="1300" b="0">
                <a:solidFill>
                  <a:srgbClr val="1C7293"/>
                </a:solidFill>
                <a:latin typeface="Calibri"/>
              </a:rPr>
              <a:t>z-score std ≈ 0.95, 95% coverage ≈ 0.96–1.00.</a:t>
            </a:r>
          </a:p>
          <a:p>
            <a:pPr algn="l"/>
            <a:r>
              <a:rPr sz="1300" b="0">
                <a:solidFill>
                  <a:srgbClr val="1B244A"/>
                </a:solidFill>
                <a:latin typeface="Calibri"/>
              </a:rPr>
              <a:t>Contraction high for Ωₘ/nₛ/Aₛ, ≈ 0 for H₀.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B244A"/>
                </a:solidFill>
                <a:latin typeface="Calibri"/>
              </a:rPr>
              <a:t>Parameter recovery</a:t>
            </a:r>
          </a:p>
        </p:txBody>
      </p:sp>
      <p:pic>
        <p:nvPicPr>
          <p:cNvPr id="3" name="Picture 2" descr="fig4_re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109728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19709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6380"/>
                </a:solidFill>
                <a:latin typeface="Calibri"/>
              </a:rPr>
              <a:t>Posterior mean vs true (test set). r = correlation, rmse = error.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92040"/>
            <a:ext cx="11338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C7293"/>
                </a:solidFill>
                <a:latin typeface="Calibri"/>
              </a:rPr>
              <a:t>Ωₘ:  r = 0.97          nₛ:  r = 0.91          Aₛ:  r = 0.87          — strongly recovered.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532120"/>
            <a:ext cx="11338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A13A"/>
                </a:solidFill>
                <a:latin typeface="Calibri"/>
              </a:rPr>
              <a:t>H₀:  r = 0.30  — weakly constrained, as physics predicts (next slide).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B244A"/>
                </a:solidFill>
                <a:latin typeface="Calibri"/>
              </a:rPr>
              <a:t>Inference at the Planck-2018 cosmology</a:t>
            </a:r>
          </a:p>
        </p:txBody>
      </p:sp>
      <p:pic>
        <p:nvPicPr>
          <p:cNvPr id="3" name="Picture 2" descr="fig7_fiducial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84632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36207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6380"/>
                </a:solidFill>
                <a:latin typeface="Calibri"/>
              </a:rPr>
              <a:t>Posterior corner; red =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1463040"/>
            <a:ext cx="5943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7293"/>
                </a:solidFill>
                <a:latin typeface="Calibri"/>
              </a:rPr>
              <a:t>Truth is recovered:</a:t>
            </a:r>
          </a:p>
          <a:p>
            <a:pPr algn="l"/>
            <a:r>
              <a:rPr sz="1400" b="0">
                <a:solidFill>
                  <a:srgbClr val="1B244A"/>
                </a:solidFill>
                <a:latin typeface="Calibri"/>
              </a:rPr>
              <a:t>Ωₘ = 0.305 ± 0.033  (true 0.315)</a:t>
            </a:r>
          </a:p>
          <a:p>
            <a:pPr algn="l"/>
            <a:r>
              <a:rPr sz="1400" b="0">
                <a:solidFill>
                  <a:srgbClr val="1B244A"/>
                </a:solidFill>
                <a:latin typeface="Calibri"/>
              </a:rPr>
              <a:t>nₛ = 0.972 ± 0.014  (true 0.965)</a:t>
            </a:r>
          </a:p>
          <a:p>
            <a:pPr algn="l"/>
            <a:r>
              <a:rPr sz="1400" b="0">
                <a:solidFill>
                  <a:srgbClr val="1B244A"/>
                </a:solidFill>
                <a:latin typeface="Calibri"/>
              </a:rPr>
              <a:t>H₀ = 69.0 ± 6.4   (true 67.4) — broad</a:t>
            </a:r>
          </a:p>
          <a:p>
            <a:pPr algn="l"/>
            <a:r>
              <a:rPr sz="600" b="0">
                <a:solidFill>
                  <a:srgbClr val="1B244A"/>
                </a:solidFill>
                <a:latin typeface="Calibri"/>
              </a:rPr>
              <a:t/>
            </a:r>
          </a:p>
          <a:p>
            <a:pPr algn="l"/>
            <a:r>
              <a:rPr sz="1600" b="1">
                <a:solidFill>
                  <a:srgbClr val="E8A13A"/>
                </a:solidFill>
                <a:latin typeface="Calibri"/>
              </a:rPr>
              <a:t>The H₀–Ωₘ degeneracy</a:t>
            </a:r>
          </a:p>
          <a:p>
            <a:pPr algn="l"/>
            <a:r>
              <a:rPr sz="1400" b="0">
                <a:solidFill>
                  <a:srgbClr val="1B244A"/>
                </a:solidFill>
                <a:latin typeface="Calibri"/>
              </a:rPr>
              <a:t>Correlation = −0.96.  The linear spectrum's shape depends on Γ ≈ Ωₘ h, so H₀ and Ωₘ trade off along constant Γ.</a:t>
            </a:r>
          </a:p>
          <a:p>
            <a:pPr algn="l"/>
            <a:r>
              <a:rPr sz="1400" b="1">
                <a:solidFill>
                  <a:srgbClr val="1C7293"/>
                </a:solidFill>
                <a:latin typeface="Calibri"/>
              </a:rPr>
              <a:t>A broad, calibrated H₀ is the correct scientific result — not a failure.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B244A"/>
                </a:solidFill>
                <a:latin typeface="Calibri"/>
              </a:rPr>
              <a:t>Model check &amp; limitations</a:t>
            </a:r>
          </a:p>
        </p:txBody>
      </p:sp>
      <p:pic>
        <p:nvPicPr>
          <p:cNvPr id="3" name="Picture 2" descr="fig8_p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4864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14807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6380"/>
                </a:solidFill>
                <a:latin typeface="Calibri"/>
              </a:rPr>
              <a:t>Posterior predictive spectra bracket the observation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3949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7293"/>
                </a:solidFill>
                <a:latin typeface="Calibri"/>
              </a:rPr>
              <a:t>Posterior predictive check passes</a:t>
            </a:r>
          </a:p>
          <a:p>
            <a:pPr algn="l"/>
            <a:r>
              <a:rPr sz="1400" b="0">
                <a:solidFill>
                  <a:srgbClr val="1B244A"/>
                </a:solidFill>
                <a:latin typeface="Calibri"/>
              </a:rPr>
              <a:t>Predicted spectra tightly bracket the observed P(k) at all scales.</a:t>
            </a:r>
          </a:p>
          <a:p>
            <a:pPr algn="l"/>
            <a:r>
              <a:rPr sz="800" b="0">
                <a:solidFill>
                  <a:srgbClr val="1B244A"/>
                </a:solidFill>
                <a:latin typeface="Calibri"/>
              </a:rPr>
              <a:t/>
            </a:r>
          </a:p>
          <a:p>
            <a:pPr algn="l"/>
            <a:r>
              <a:rPr sz="1500" b="1">
                <a:solidFill>
                  <a:srgbClr val="E8A13A"/>
                </a:solidFill>
                <a:latin typeface="Calibri"/>
              </a:rPr>
              <a:t>Honest limitations</a:t>
            </a:r>
          </a:p>
          <a:p>
            <a:pPr algn="l"/>
            <a:r>
              <a:rPr sz="1400" b="0">
                <a:solidFill>
                  <a:srgbClr val="1B244A"/>
                </a:solidFill>
                <a:latin typeface="Calibri"/>
              </a:rPr>
              <a:t>• Gaussian posterior → mild tail overconfidence (→ use a normalizing flow / BayesFlow).</a:t>
            </a:r>
          </a:p>
          <a:p>
            <a:pPr algn="l"/>
            <a:r>
              <a:rPr sz="1400" b="0">
                <a:solidFill>
                  <a:srgbClr val="1B244A"/>
                </a:solidFill>
                <a:latin typeface="Calibri"/>
              </a:rPr>
              <a:t>• BBKS analytic simulator, linear only → use CAMB; no BAO / nonlinear.</a:t>
            </a:r>
          </a:p>
          <a:p>
            <a:pPr algn="l"/>
            <a:r>
              <a:rPr sz="1400" b="0">
                <a:solidFill>
                  <a:srgbClr val="1B244A"/>
                </a:solidFill>
                <a:latin typeface="Calibri"/>
              </a:rPr>
              <a:t>• Idealized diagonal noise; no galaxy bias / RSD / survey window.</a:t>
            </a:r>
          </a:p>
          <a:p>
            <a:pPr algn="l"/>
            <a:r>
              <a:rPr sz="1400" b="0">
                <a:solidFill>
                  <a:srgbClr val="1B244A"/>
                </a:solidFill>
                <a:latin typeface="Calibri"/>
              </a:rPr>
              <a:t>• H₀ weak by design (h-unit shape degeneracy).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Take-home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ADCFC"/>
                </a:solidFill>
                <a:latin typeface="Calibri"/>
              </a:rPr>
              <a:t>1.  We built a calibrated, amortized neural posterior estimator for ΛCDM parameters from the linear P(k).</a:t>
            </a:r>
          </a:p>
          <a:p>
            <a:pPr algn="l"/>
            <a:r>
              <a:rPr sz="800" b="0">
                <a:solidFill>
                  <a:srgbClr val="CADCFC"/>
                </a:solidFill>
                <a:latin typeface="Calibri"/>
              </a:rPr>
              <a:t/>
            </a:r>
          </a:p>
          <a:p>
            <a:pPr algn="l"/>
            <a:r>
              <a:rPr sz="1800" b="1">
                <a:solidFill>
                  <a:srgbClr val="CADCFC"/>
                </a:solidFill>
                <a:latin typeface="Calibri"/>
              </a:rPr>
              <a:t>2.  Ωₘ, nₛ, Aₛ are well constrained and recovered; SBC + coverage confirm calibration.</a:t>
            </a:r>
          </a:p>
          <a:p>
            <a:pPr algn="l"/>
            <a:r>
              <a:rPr sz="800" b="0">
                <a:solidFill>
                  <a:srgbClr val="CADCFC"/>
                </a:solidFill>
                <a:latin typeface="Calibri"/>
              </a:rPr>
              <a:t/>
            </a:r>
          </a:p>
          <a:p>
            <a:pPr algn="l"/>
            <a:r>
              <a:rPr sz="1800" b="1">
                <a:solidFill>
                  <a:srgbClr val="CADCFC"/>
                </a:solidFill>
                <a:latin typeface="Calibri"/>
              </a:rPr>
              <a:t>3.  H₀ is weakly constrained with a strong H₀–Ωₘ degeneracy (−0.96) — the correct shape-parameter physics.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A13A"/>
                </a:solidFill>
                <a:latin typeface="Calibri"/>
              </a:rPr>
              <a:t>Maps the whole course: Monte Carlo · priors · PPC · SBC · likelihood-free · NPE.   Contact: [email]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